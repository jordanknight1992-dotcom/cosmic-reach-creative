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DFCF"/>
                </a:solidFill>
                <a:latin typeface="Calibri"/>
              </a:defRPr>
            </a:pPr>
            <a:r>
              <a:t>Cosmic Reach 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574"/>
                </a:solidFill>
                <a:latin typeface="Calibri"/>
              </a:defRPr>
            </a:pPr>
            <a:r>
              <a:t>Strategy. Systems.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6AB"/>
                </a:solidFill>
                <a:latin typeface="Calibri"/>
              </a:defRPr>
            </a:pPr>
            <a:r>
              <a:t>Brand Guidelines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303520"/>
            <a:ext cx="2103120" cy="381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What's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474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Brand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AB"/>
                </a:solidFill>
                <a:latin typeface="Calibri"/>
              </a:defRPr>
            </a:pPr>
            <a:r>
              <a:t>Mission, vision, beliefs,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474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Visual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AB"/>
                </a:solidFill>
                <a:latin typeface="Calibri"/>
              </a:defRPr>
            </a:pPr>
            <a:r>
              <a:t>Logo, color, typography, imagery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474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Voice &amp; 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AB"/>
                </a:solidFill>
                <a:latin typeface="Calibri"/>
              </a:defRPr>
            </a:pPr>
            <a:r>
              <a:t>How we speak, write, and communicate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4747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Service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AB"/>
                </a:solidFill>
                <a:latin typeface="Calibri"/>
              </a:defRPr>
            </a:pPr>
            <a:r>
              <a:t>Creative, Parallax, 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4747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AB"/>
                </a:solidFill>
                <a:latin typeface="Calibri"/>
              </a:defRPr>
            </a:pPr>
            <a:r>
              <a:t>Digital, print, presentations, social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4747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Brand in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AB"/>
                </a:solidFill>
                <a:latin typeface="Calibri"/>
              </a:defRPr>
            </a:pPr>
            <a:r>
              <a:t>Process, governance, resources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731520" cy="508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8DFCF"/>
                </a:solidFill>
                <a:latin typeface="Calibri"/>
              </a:defRPr>
            </a:pPr>
            <a:r>
              <a:t>Brand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  <a:latin typeface="Calibri"/>
              </a:defRPr>
            </a:pPr>
            <a:r>
              <a:t>Who we are. Why we exist. What we believe.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BRAND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The Origin of Cosmic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Jordan Knight built Cosmic Reach after leading marketing strategy and analytics inside a scaling life sciences organization, where clarity was operational necessity.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Inside high growth environments, he built reporting systems, aligned cross functional teams, and translated performance data into executive level decisions.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Cosmic Reach was launched to bring that same structured thinking to growing companies at the exact moment complexity outpaces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Our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DFCF"/>
                </a:solidFill>
                <a:latin typeface="Calibri"/>
              </a:defRPr>
            </a:pPr>
            <a:r>
              <a:t>Systems design for companies navigating complexity.</a:t>
            </a:r>
            <a:br/>
            <a:r>
              <a:t>We restore the signal when growth creates noise.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  <a:latin typeface="Calibri"/>
              </a:defRPr>
            </a:pPr>
            <a:r>
              <a:t>We work with growing companies at the exact moment complexity outpaces structure. We design the systems that restore signal, so your team can stop reacting and start navigating.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Our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DFCF"/>
                </a:solidFill>
                <a:latin typeface="Calibri"/>
              </a:defRPr>
            </a:pPr>
            <a:r>
              <a:t>Every growing company deserves the clarity</a:t>
            </a:r>
            <a:br/>
            <a:r>
              <a:t>to navigate complexity with 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  <a:latin typeface="Calibri"/>
              </a:defRPr>
            </a:pPr>
            <a:r>
              <a:t>We envision a world where scaling does not mean losing focus. Where data creates decisions, not confusion. Where teams move with precision because the systems beneath them 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72768"/>
            <a:ext cx="114300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322576"/>
            <a:ext cx="114300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072384"/>
            <a:ext cx="114300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822192"/>
            <a:ext cx="114300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4572000"/>
            <a:ext cx="114300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5321808"/>
            <a:ext cx="114300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71616"/>
            <a:ext cx="114300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0" y="-274320"/>
            <a:ext cx="1828800" cy="1828800"/>
          </a:xfrm>
          <a:prstGeom prst="ellipse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0" y="0"/>
            <a:ext cx="1280160" cy="12801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0" y="182880"/>
            <a:ext cx="914400" cy="914400"/>
          </a:xfrm>
          <a:prstGeom prst="ellipse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BRAND BELIEFS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DFCF"/>
                </a:solidFill>
                <a:latin typeface="Calibri"/>
              </a:defRPr>
            </a:pPr>
            <a:r>
              <a:t>What We Believe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691640"/>
            <a:ext cx="1051560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1828800"/>
            <a:ext cx="63500" cy="54864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7647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Clarity is a system, not a moment.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7647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Sustainable clarity comes from designed structure, not a single insight.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1892808"/>
            <a:ext cx="411480" cy="411480"/>
          </a:xfrm>
          <a:prstGeom prst="ellipse">
            <a:avLst/>
          </a:prstGeom>
          <a:solidFill>
            <a:srgbClr val="0B1120"/>
          </a:solidFill>
          <a:ln w="254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19202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57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2651760"/>
            <a:ext cx="1037844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2788920"/>
            <a:ext cx="63500" cy="54864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7249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Signal over noise. Always.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7249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We filter the metrics that matter from the ones that just look busy.</a:t>
            </a:r>
          </a:p>
        </p:txBody>
      </p:sp>
      <p:sp>
        <p:nvSpPr>
          <p:cNvPr id="27" name="Oval 26"/>
          <p:cNvSpPr/>
          <p:nvPr/>
        </p:nvSpPr>
        <p:spPr>
          <a:xfrm>
            <a:off x="978408" y="2852928"/>
            <a:ext cx="411480" cy="411480"/>
          </a:xfrm>
          <a:prstGeom prst="ellipse">
            <a:avLst/>
          </a:prstGeom>
          <a:solidFill>
            <a:srgbClr val="0B1120"/>
          </a:solidFill>
          <a:ln w="254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2880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574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3611880"/>
            <a:ext cx="1024128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" y="3749040"/>
            <a:ext cx="63500" cy="54864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36850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Structure enables speed.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6850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The right system does not slow your team down. It removes the friction that does.</a:t>
            </a:r>
          </a:p>
        </p:txBody>
      </p:sp>
      <p:sp>
        <p:nvSpPr>
          <p:cNvPr id="33" name="Oval 32"/>
          <p:cNvSpPr/>
          <p:nvPr/>
        </p:nvSpPr>
        <p:spPr>
          <a:xfrm>
            <a:off x="1115568" y="3813048"/>
            <a:ext cx="411480" cy="411480"/>
          </a:xfrm>
          <a:prstGeom prst="ellipse">
            <a:avLst/>
          </a:prstGeom>
          <a:solidFill>
            <a:srgbClr val="0B1120"/>
          </a:solidFill>
          <a:ln w="254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" y="38404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574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572000"/>
            <a:ext cx="1051560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709160"/>
            <a:ext cx="63500" cy="54864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46451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Complexity is not the enemy. Confusion 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45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Growing companies will always face complexity. We make sure it does not become chaos.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" y="4773168"/>
            <a:ext cx="411480" cy="411480"/>
          </a:xfrm>
          <a:prstGeom prst="ellipse">
            <a:avLst/>
          </a:prstGeom>
          <a:solidFill>
            <a:srgbClr val="0B1120"/>
          </a:solidFill>
          <a:ln w="254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800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574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5532120"/>
            <a:ext cx="1037844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8680" y="5669280"/>
            <a:ext cx="63500" cy="54864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160" y="56052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Every system should hold under pressure.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6052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We architect the simplest system that will hold, then ship, measure, and refine.</a:t>
            </a:r>
          </a:p>
        </p:txBody>
      </p:sp>
      <p:sp>
        <p:nvSpPr>
          <p:cNvPr id="45" name="Oval 44"/>
          <p:cNvSpPr/>
          <p:nvPr/>
        </p:nvSpPr>
        <p:spPr>
          <a:xfrm>
            <a:off x="978408" y="5733288"/>
            <a:ext cx="411480" cy="411480"/>
          </a:xfrm>
          <a:prstGeom prst="ellipse">
            <a:avLst/>
          </a:prstGeom>
          <a:solidFill>
            <a:srgbClr val="0B1120"/>
          </a:solidFill>
          <a:ln w="254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" y="57607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574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Brand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DFCF"/>
                </a:solidFill>
                <a:latin typeface="Calibri"/>
              </a:defRPr>
            </a:pPr>
            <a:r>
              <a:t>Growing companies whose scale has outpaced their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Who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DFCF"/>
                </a:solidFill>
                <a:latin typeface="Calibri"/>
              </a:defRPr>
            </a:pPr>
            <a:r>
              <a:t>Structure that turns complexity into clarity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We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DFCF"/>
                </a:solidFill>
                <a:latin typeface="Calibri"/>
              </a:defRPr>
            </a:pPr>
            <a:r>
              <a:t>A systems design partner that restores the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Unlike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DFCF"/>
                </a:solidFill>
                <a:latin typeface="Calibri"/>
              </a:defRPr>
            </a:pPr>
            <a:r>
              <a:t>Traditional agencies that add more noise to an already crowded landscape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We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DFCF"/>
                </a:solidFill>
                <a:latin typeface="Calibri"/>
              </a:defRPr>
            </a:pPr>
            <a:r>
              <a:t>Design the systems, strategy, and structure that give your team clarity to move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KEY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Core Messaging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0332720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Primary 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9784080" cy="-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Growth created noise. We restore the signal.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08960"/>
            <a:ext cx="10332720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3832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Elevator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9784080" cy="-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Systems design for companies navigating complexity.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10332720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20624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80"/>
            <a:ext cx="9784080" cy="-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You scaled. Now everything is louder. More channels. More dashboards. More opinions.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754880"/>
            <a:ext cx="10332720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577840"/>
            <a:ext cx="9784080" cy="-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We design the systems that restore signal, so your team can stop reacting and start navigating.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577840"/>
            <a:ext cx="10332720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8521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CTA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6400800"/>
            <a:ext cx="9784080" cy="-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Request a Signal Scan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731520" cy="508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8DFCF"/>
                </a:solidFill>
                <a:latin typeface="Calibri"/>
              </a:defRPr>
            </a:pPr>
            <a:r>
              <a:t>Visual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  <a:latin typeface="Calibri"/>
              </a:defRPr>
            </a:pPr>
            <a:r>
              <a:t>Logo, color, typography, and imagery standards.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LOGO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Logo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  <a:latin typeface="Calibri"/>
              </a:defRPr>
            </a:pPr>
            <a:r>
              <a:t>The Cosmic Reach logo exists in a systematic family of 8 variants. Select the right version based on background, context, and medium.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246888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DFCF"/>
                </a:solidFill>
                <a:latin typeface="Calibri"/>
              </a:defRPr>
            </a:pPr>
            <a:r>
              <a:t>Full Logo — Dark RGB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574"/>
                </a:solidFill>
                <a:latin typeface="Calibri"/>
              </a:defRPr>
            </a:pPr>
            <a:r>
              <a:t>logo-dark-rgb.svg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Primary. Dark backgrounds.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017520"/>
            <a:ext cx="246888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DFCF"/>
                </a:solidFill>
                <a:latin typeface="Calibri"/>
              </a:defRPr>
            </a:pPr>
            <a:r>
              <a:t>Full Logo — Dark Mono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574"/>
                </a:solidFill>
                <a:latin typeface="Calibri"/>
              </a:defRPr>
            </a:pPr>
            <a:r>
              <a:t>logo-dark-mono.svg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Single-color dark contexts.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246888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DFCF"/>
                </a:solidFill>
                <a:latin typeface="Calibri"/>
              </a:defRPr>
            </a:pPr>
            <a:r>
              <a:t>Full Logo — Light RGB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574"/>
                </a:solidFill>
                <a:latin typeface="Calibri"/>
              </a:defRPr>
            </a:pPr>
            <a:r>
              <a:t>logo-light-rgb.svg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Light backgrounds.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3017520"/>
            <a:ext cx="246888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DFCF"/>
                </a:solidFill>
                <a:latin typeface="Calibri"/>
              </a:defRPr>
            </a:pPr>
            <a:r>
              <a:t>Full Logo — Light Mono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574"/>
                </a:solidFill>
                <a:latin typeface="Calibri"/>
              </a:defRPr>
            </a:pPr>
            <a:r>
              <a:t>logo-light-mono.svg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Single-color light contexts.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663440"/>
            <a:ext cx="246888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DFCF"/>
                </a:solidFill>
                <a:latin typeface="Calibri"/>
              </a:defRPr>
            </a:pPr>
            <a:r>
              <a:t>Icon — Dark RGB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12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574"/>
                </a:solidFill>
                <a:latin typeface="Calibri"/>
              </a:defRPr>
            </a:pPr>
            <a:r>
              <a:t>icon-dark-rgb.svg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77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Favicons, app icons (dark).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663440"/>
            <a:ext cx="246888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DFCF"/>
                </a:solidFill>
                <a:latin typeface="Calibri"/>
              </a:defRPr>
            </a:pPr>
            <a:r>
              <a:t>Icon — Dark Mono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5212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574"/>
                </a:solidFill>
                <a:latin typeface="Calibri"/>
              </a:defRPr>
            </a:pPr>
            <a:r>
              <a:t>icon-dark-mono.svg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5577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Minimal dark contexts.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663440"/>
            <a:ext cx="246888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DFCF"/>
                </a:solidFill>
                <a:latin typeface="Calibri"/>
              </a:defRPr>
            </a:pPr>
            <a:r>
              <a:t>Icon — Light RGB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12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574"/>
                </a:solidFill>
                <a:latin typeface="Calibri"/>
              </a:defRPr>
            </a:pPr>
            <a:r>
              <a:t>icon-light-rgb.svg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77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Favicons, app icons (light).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4663440"/>
            <a:ext cx="246888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DFCF"/>
                </a:solidFill>
                <a:latin typeface="Calibri"/>
              </a:defRPr>
            </a:pPr>
            <a:r>
              <a:t>Icon — Light Mono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5212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574"/>
                </a:solidFill>
                <a:latin typeface="Calibri"/>
              </a:defRPr>
            </a:pPr>
            <a:r>
              <a:t>icon-light-mono.svg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5577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Minimal light contexts.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LOGO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Clear Space, Sizing &amp; Usage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Clear Space: Maintain minimum clear space equal to the height of the 'C' in Cosmic on all sides.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Minimum Size: Full logo 120px / 1in. Icon mark 32px / 0.5in.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Do Not: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Distort, stretch, rotate, or skew the logo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Apply unapproved colors or add effects (shadows, glows)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Place on low-contrast or busy backgrounds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Crop, partially obscure, or rearrange logo elements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Use the logo as a pattern or texture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COLOR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Primary Color Palette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  <a:latin typeface="Calibri"/>
              </a:defRPr>
            </a:pPr>
            <a:r>
              <a:t>Dark-first design philosophy. Deep navy is dominant. Red is functional signal only.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554480" cy="155448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DFCF"/>
                </a:solidFill>
                <a:latin typeface="Calibri"/>
              </a:defRPr>
            </a:pPr>
            <a:r>
              <a:t>Deep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74"/>
                </a:solidFill>
                <a:latin typeface="Calibri"/>
              </a:defRPr>
            </a:pPr>
            <a:r>
              <a:t>#0B1120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Primary background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743200"/>
            <a:ext cx="1554480" cy="1554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DFCF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846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74"/>
                </a:solidFill>
                <a:latin typeface="Calibri"/>
              </a:defRPr>
            </a:pPr>
            <a:r>
              <a:t>#111827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212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Cards, elevated areas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43200"/>
            <a:ext cx="1554480" cy="1554480"/>
          </a:xfrm>
          <a:prstGeom prst="roundRect">
            <a:avLst/>
          </a:prstGeom>
          <a:solidFill>
            <a:srgbClr val="E8DFC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DFCF"/>
                </a:solidFill>
                <a:latin typeface="Calibri"/>
              </a:defRPr>
            </a:pPr>
            <a:r>
              <a:t>Starlight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46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74"/>
                </a:solidFill>
                <a:latin typeface="Calibri"/>
              </a:defRPr>
            </a:pPr>
            <a:r>
              <a:t>#E8DFCF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212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Primary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43200"/>
            <a:ext cx="1554480" cy="1554480"/>
          </a:xfrm>
          <a:prstGeom prst="roundRect">
            <a:avLst/>
          </a:prstGeom>
          <a:solidFill>
            <a:srgbClr val="D4A57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DFCF"/>
                </a:solidFill>
                <a:latin typeface="Calibri"/>
              </a:defRPr>
            </a:pPr>
            <a:r>
              <a:t>Copper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46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74"/>
                </a:solidFill>
                <a:latin typeface="Calibri"/>
              </a:defRPr>
            </a:pPr>
            <a:r>
              <a:t>#D4A574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12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Secondary accent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743200"/>
            <a:ext cx="1554480" cy="1554480"/>
          </a:xfrm>
          <a:prstGeom prst="roundRect">
            <a:avLst/>
          </a:prstGeom>
          <a:solidFill>
            <a:srgbClr val="E0474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DFCF"/>
                </a:solidFill>
                <a:latin typeface="Calibri"/>
              </a:defRPr>
            </a:pPr>
            <a:r>
              <a:t>Spark 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46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74"/>
                </a:solidFill>
                <a:latin typeface="Calibri"/>
              </a:defRPr>
            </a:pPr>
            <a:r>
              <a:t>#E04747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212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CTAs, signals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2743200"/>
            <a:ext cx="1554480" cy="1554480"/>
          </a:xfrm>
          <a:prstGeom prst="roundRect">
            <a:avLst/>
          </a:prstGeom>
          <a:solidFill>
            <a:srgbClr val="8896A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DFCF"/>
                </a:solidFill>
                <a:latin typeface="Calibri"/>
              </a:defRPr>
            </a:pPr>
            <a:r>
              <a:t>Muted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846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74"/>
                </a:solidFill>
                <a:latin typeface="Calibri"/>
              </a:defRPr>
            </a:pPr>
            <a:r>
              <a:t>#8896AB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212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Secondary 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COLOR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Color Usage Guidelines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828800" cy="1097280"/>
          </a:xfrm>
          <a:prstGeom prst="roundRect">
            <a:avLst/>
          </a:prstGeom>
          <a:solidFill>
            <a:srgbClr val="1A233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DFCF"/>
                </a:solidFill>
                <a:latin typeface="Calibri"/>
              </a:defRPr>
            </a:pPr>
            <a:r>
              <a:t>Surface Elevated  #1A2332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Hover states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286000"/>
            <a:ext cx="1828800" cy="109728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DFCF"/>
                </a:solidFill>
                <a:latin typeface="Calibri"/>
              </a:defRPr>
            </a:pPr>
            <a:r>
              <a:t>Brand Navy Alt  #0B1628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Section variation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286000"/>
            <a:ext cx="18288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DFCF"/>
                </a:solidFill>
                <a:latin typeface="Calibri"/>
              </a:defRPr>
            </a:pPr>
            <a:r>
              <a:t>Border  #1E293B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Dividers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681728"/>
            <a:ext cx="101600" cy="1016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Dark-first: Deep navy is the dominant surface across all brand touchpoints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047488"/>
            <a:ext cx="101600" cy="1016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Red is functional signal only: CTAs, alerts, active states. Never decorative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413248"/>
            <a:ext cx="101600" cy="1016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No random gradients: Gradients are only used for subtle depth effects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779008"/>
            <a:ext cx="101600" cy="1016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No neon or sci-fi visuals: The brand is grounded, structured, and warm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6144768"/>
            <a:ext cx="101600" cy="1016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WCAG 2.1 AA minimum contrast for all text pairings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Display Font: Space Grotesk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  <a:latin typeface="Calibri"/>
              </a:defRPr>
            </a:pPr>
            <a:r>
              <a:t>Used for headings, buttons, labels, and navigation. A modern geometric sans-serif that carries authority without pretension.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Semibold 600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8DFCF"/>
                </a:solidFill>
                <a:latin typeface="Calibri"/>
              </a:defRPr>
            </a:pPr>
            <a:r>
              <a:t>Subheadings, buttons, nav links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Bold 700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Primary Headings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6AB"/>
                </a:solidFill>
                <a:latin typeface="Calibri"/>
              </a:defRPr>
            </a:pPr>
            <a:r>
              <a:t>A B C D E F G H I J K L M N O P Q R S T U V W X Y Z  0 1 2 3 4 5 6 7 8 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Body Font: 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  <a:latin typeface="Calibri"/>
              </a:defRPr>
            </a:pPr>
            <a:r>
              <a:t>Used for body text, descriptions, and form content. Designed for screen readability with excellent legibility at all sizes.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Regular 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DFCF"/>
                </a:solidFill>
                <a:latin typeface="Calibri"/>
              </a:defRPr>
            </a:pPr>
            <a:r>
              <a:t>Body text for descriptions, paragraphs, and form content. Optimized for readability at 16px and above.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Medium 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DFCF"/>
                </a:solidFill>
                <a:latin typeface="Calibri"/>
              </a:defRPr>
            </a:pPr>
            <a:r>
              <a:t>Emphasized body text for callouts and important information.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TYPE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Typographic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H1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72px / 36px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Bold 700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DFCF"/>
                </a:solidFill>
                <a:latin typeface="Calibri"/>
              </a:defRPr>
            </a:pPr>
            <a:r>
              <a:t>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H2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48px / 30px 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Bold 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788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DFCF"/>
                </a:solidFill>
                <a:latin typeface="Calibri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H3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20px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Bold 700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383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DFCF"/>
                </a:solidFill>
                <a:latin typeface="Calibri"/>
              </a:defRPr>
            </a:pPr>
            <a:r>
              <a:t>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Body Large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18px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Regular 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977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DFCF"/>
                </a:solidFill>
                <a:latin typeface="Calibri"/>
              </a:defRPr>
            </a:pPr>
            <a:r>
              <a:t>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Body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16px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Regular 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572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DFCF"/>
                </a:solidFill>
                <a:latin typeface="Calibri"/>
              </a:defRPr>
            </a:pPr>
            <a:r>
              <a:t>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Small / Labels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14px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Semibold 600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166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DFCF"/>
                </a:solidFill>
                <a:latin typeface="Calibri"/>
              </a:defRPr>
            </a:pPr>
            <a:r>
              <a:t>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52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Caption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12px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Semibold 600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760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DFCF"/>
                </a:solidFill>
                <a:latin typeface="Calibri"/>
              </a:defRPr>
            </a:pPr>
            <a:r>
              <a:t>Signal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SPACING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Spacing System &amp;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  <a:latin typeface="Calibri"/>
              </a:defRPr>
            </a:pPr>
            <a:r>
              <a:t>Based on a 4px grid. All spacing uses multiples of 4px for consistent rhythm.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914400" cy="9144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DFCF"/>
                </a:solidFill>
                <a:latin typeface="Calibri"/>
              </a:defRPr>
            </a:pPr>
            <a:r>
              <a:t>xs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6AB"/>
                </a:solidFill>
                <a:latin typeface="Calibri"/>
              </a:defRPr>
            </a:pPr>
            <a:r>
              <a:t>4px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3200400"/>
            <a:ext cx="914400" cy="9144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3383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DFCF"/>
                </a:solidFill>
                <a:latin typeface="Calibri"/>
              </a:defRPr>
            </a:pPr>
            <a:r>
              <a:t>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6AB"/>
                </a:solidFill>
                <a:latin typeface="Calibri"/>
              </a:defRPr>
            </a:pPr>
            <a:r>
              <a:t>8px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200400"/>
            <a:ext cx="914400" cy="13716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429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DFCF"/>
                </a:solidFill>
                <a:latin typeface="Calibri"/>
              </a:defRPr>
            </a:pPr>
            <a:r>
              <a:t>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6AB"/>
                </a:solidFill>
                <a:latin typeface="Calibri"/>
              </a:defRPr>
            </a:pPr>
            <a:r>
              <a:t>16px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200400"/>
            <a:ext cx="914400" cy="18288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DFCF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6AB"/>
                </a:solidFill>
                <a:latin typeface="Calibri"/>
              </a:defRPr>
            </a:pPr>
            <a:r>
              <a:t>24px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200400"/>
            <a:ext cx="914400" cy="2286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DFCF"/>
                </a:solidFill>
                <a:latin typeface="Calibri"/>
              </a:defRPr>
            </a:pPr>
            <a:r>
              <a:t>xl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6AB"/>
                </a:solidFill>
                <a:latin typeface="Calibri"/>
              </a:defRPr>
            </a:pPr>
            <a:r>
              <a:t>32px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200400"/>
            <a:ext cx="914400" cy="27432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DFCF"/>
                </a:solidFill>
                <a:latin typeface="Calibri"/>
              </a:defRPr>
            </a:pPr>
            <a:r>
              <a:t>2xl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6AB"/>
                </a:solidFill>
                <a:latin typeface="Calibri"/>
              </a:defRPr>
            </a:pPr>
            <a:r>
              <a:t>48px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3200400"/>
            <a:ext cx="914400" cy="32004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DFCF"/>
                </a:solidFill>
                <a:latin typeface="Calibri"/>
              </a:defRPr>
            </a:pPr>
            <a:r>
              <a:t>3xl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6AB"/>
                </a:solidFill>
                <a:latin typeface="Calibri"/>
              </a:defRPr>
            </a:pPr>
            <a:r>
              <a:t>64px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3200400"/>
            <a:ext cx="914400" cy="36576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DFCF"/>
                </a:solidFill>
                <a:latin typeface="Calibri"/>
              </a:defRPr>
            </a:pPr>
            <a:r>
              <a:t>4xl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6AB"/>
                </a:solidFill>
                <a:latin typeface="Calibri"/>
              </a:defRPr>
            </a:pPr>
            <a:r>
              <a:t>96px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Layout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FCF"/>
                </a:solidFill>
                <a:latin typeface="Calibri"/>
              </a:defRPr>
            </a:pPr>
            <a:r>
              <a:t>Max width: 1200px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Desktop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FCF"/>
                </a:solidFill>
                <a:latin typeface="Calibri"/>
              </a:defRPr>
            </a:pPr>
            <a:r>
              <a:t>12 columns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Tablet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FCF"/>
                </a:solidFill>
                <a:latin typeface="Calibri"/>
              </a:defRPr>
            </a:pPr>
            <a:r>
              <a:t>8 columns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486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FCF"/>
                </a:solidFill>
                <a:latin typeface="Calibri"/>
              </a:defRPr>
            </a:pPr>
            <a:r>
              <a:t>4 columns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Padding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5486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FCF"/>
                </a:solidFill>
                <a:latin typeface="Calibri"/>
              </a:defRPr>
            </a:pPr>
            <a:r>
              <a:t>20px mobile, 32px desktop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Radius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5486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FCF"/>
                </a:solidFill>
                <a:latin typeface="Calibri"/>
              </a:defRPr>
            </a:pPr>
            <a:r>
              <a:t>sm: 10px, md: 14px, lg: 18px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Motion &amp; Animation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Motion Tokens: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Fast: 180ms — Micro-interactions, hover states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Base: 240ms — Standard transitions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Slow: 300ms — Page-level transitions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Easing: cubic-bezier(0.16, 1, 0.3, 1) — ease-cosmic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All animations respect prefers-reduced-motion: reduce.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Principles: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Motion serves function, never decoration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Keep transitions subtle and purposeful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Entry animations use fade + slight translate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Interactive feedback is immediate (&lt; 180ms)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IMAGERY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Photography &amp; Imagery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Photography style is grounded and intentional. No stock-photo energy.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Guidelines: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Dark, moody tones that complement the deep-space palette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Natural lighting preferred over studio setups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Images should feel authentic and unforced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Overlays use gradient-to-deep-space for text legibility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Hero images: 100vw, opacity-60 with gradient overlay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Image Treatment: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All images optimized through Next.js Image component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Card images contained within rounded-lg borders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Aspect ratios: Hero (full viewport), Featured (4:3), Portrait (3:4)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ICONOGRAPHY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Iconography &amp; Chevron Motif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The chevron is the singular brand motif. It serves as a directional indicator on CTAs.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Chevron Rules: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Functional only. Never decorative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SVG at 16px default size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Inherits current text color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Animates on hover: gap increases from 1 to 2 (subtle shift)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General Icon Guidelines: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Keep icon use minimal. The brand is text-driven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When icons are needed, use simple line-weight SVGs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Color inherits from context (starlight, spark-red, copper)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No filled/solid icon styles. Outline only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731520" cy="508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8DFCF"/>
                </a:solidFill>
                <a:latin typeface="Calibri"/>
              </a:defRPr>
            </a:pPr>
            <a:r>
              <a:t>Voice &amp; 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  <a:latin typeface="Calibri"/>
              </a:defRPr>
            </a:pPr>
            <a:r>
              <a:t>How we speak, write, and communicate the brand.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BRAND 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How We Sound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033272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468880"/>
            <a:ext cx="63500" cy="82296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DFCF"/>
                </a:solidFill>
                <a:latin typeface="Calibri"/>
              </a:defRPr>
            </a:pPr>
            <a:r>
              <a:t>Confident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6AB"/>
                </a:solidFill>
                <a:latin typeface="Calibri"/>
              </a:defRPr>
            </a:pPr>
            <a:r>
              <a:t>We speak with authority earned from experience. Not loud. Not aggressive. Clear.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1033272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63500" cy="82296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DFCF"/>
                </a:solidFill>
                <a:latin typeface="Calibri"/>
              </a:defRPr>
            </a:pPr>
            <a:r>
              <a:t>Structured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6AB"/>
                </a:solidFill>
                <a:latin typeface="Calibri"/>
              </a:defRPr>
            </a:pPr>
            <a:r>
              <a:t>Our communication has architecture. Ideas are organized, sequenced, and intentional.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29200"/>
            <a:ext cx="1033272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5212080"/>
            <a:ext cx="63500" cy="822960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DFCF"/>
                </a:solidFill>
                <a:latin typeface="Calibri"/>
              </a:defRPr>
            </a:pPr>
            <a:r>
              <a:t>Cosmic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6AB"/>
                </a:solidFill>
                <a:latin typeface="Calibri"/>
              </a:defRPr>
            </a:pPr>
            <a:r>
              <a:t>We use celestial metaphors as a lens for clarity: signal, orbit, navigation, terrain.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WRITING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Writing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Use "we" voice. Never "I." The brand is the collective, not the individual.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No em dashes. Use commas, periods, or restructure sentences.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Cosmic metaphors are welcome but disciplined. Signal, orbit, terrain, navigate. Not every sentence needs to reference space.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No corporate cliches: leverage, synergy, disrupt, pivot, ideate.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Short sentences. Let ideas breathe.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Founder reference: Jordan Knight, Managing Partner, Cosmic Reach. Do not name previous employers.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TONE SPECTRUM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We Are / We Are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  <a:latin typeface="Calibri"/>
              </a:defRPr>
            </a:pPr>
            <a:r>
              <a:t>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896AB"/>
                </a:solidFill>
                <a:latin typeface="Calibri"/>
              </a:defRPr>
            </a:pPr>
            <a:r>
              <a:t>We Are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DFCF"/>
                </a:solidFill>
                <a:latin typeface="Calibri"/>
              </a:defRPr>
            </a:pPr>
            <a:r>
              <a:t>Confident</a:t>
            </a:r>
          </a:p>
        </p:txBody>
      </p:sp>
      <p:sp>
        <p:nvSpPr>
          <p:cNvPr id="7" name="Oval 6"/>
          <p:cNvSpPr/>
          <p:nvPr/>
        </p:nvSpPr>
        <p:spPr>
          <a:xfrm>
            <a:off x="5760720" y="3017520"/>
            <a:ext cx="137160" cy="137160"/>
          </a:xfrm>
          <a:prstGeom prst="ellipse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  <a:latin typeface="Calibri"/>
              </a:defRPr>
            </a:pPr>
            <a:r>
              <a:t>Aggressive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DFCF"/>
                </a:solidFill>
                <a:latin typeface="Calibri"/>
              </a:defRPr>
            </a:pPr>
            <a:r>
              <a:t>Structured</a:t>
            </a:r>
          </a:p>
        </p:txBody>
      </p:sp>
      <p:sp>
        <p:nvSpPr>
          <p:cNvPr id="10" name="Oval 9"/>
          <p:cNvSpPr/>
          <p:nvPr/>
        </p:nvSpPr>
        <p:spPr>
          <a:xfrm>
            <a:off x="5760720" y="3566160"/>
            <a:ext cx="137160" cy="137160"/>
          </a:xfrm>
          <a:prstGeom prst="ellipse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  <a:latin typeface="Calibri"/>
              </a:defRPr>
            </a:pPr>
            <a:r>
              <a:t>Rigid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DFCF"/>
                </a:solidFill>
                <a:latin typeface="Calibri"/>
              </a:defRPr>
            </a:pPr>
            <a:r>
              <a:t>Direct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0" y="4114800"/>
            <a:ext cx="137160" cy="137160"/>
          </a:xfrm>
          <a:prstGeom prst="ellipse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  <a:latin typeface="Calibri"/>
              </a:defRPr>
            </a:pPr>
            <a:r>
              <a:t>Blunt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DFCF"/>
                </a:solidFill>
                <a:latin typeface="Calibri"/>
              </a:defRPr>
            </a:pPr>
            <a:r>
              <a:t>Warm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0" y="4663440"/>
            <a:ext cx="137160" cy="137160"/>
          </a:xfrm>
          <a:prstGeom prst="ellipse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  <a:latin typeface="Calibri"/>
              </a:defRPr>
            </a:pPr>
            <a:r>
              <a:t>Casual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DFCF"/>
                </a:solidFill>
                <a:latin typeface="Calibri"/>
              </a:defRPr>
            </a:pPr>
            <a:r>
              <a:t>Expert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5212080"/>
            <a:ext cx="137160" cy="137160"/>
          </a:xfrm>
          <a:prstGeom prst="ellipse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  <a:latin typeface="Calibri"/>
              </a:defRPr>
            </a:pPr>
            <a:r>
              <a:t>Condescending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DFCF"/>
                </a:solidFill>
                <a:latin typeface="Calibri"/>
              </a:defRPr>
            </a:pPr>
            <a:r>
              <a:t>Curious</a:t>
            </a:r>
          </a:p>
        </p:txBody>
      </p:sp>
      <p:sp>
        <p:nvSpPr>
          <p:cNvPr id="22" name="Oval 21"/>
          <p:cNvSpPr/>
          <p:nvPr/>
        </p:nvSpPr>
        <p:spPr>
          <a:xfrm>
            <a:off x="5760720" y="5760720"/>
            <a:ext cx="137160" cy="137160"/>
          </a:xfrm>
          <a:prstGeom prst="ellipse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  <a:latin typeface="Calibri"/>
              </a:defRPr>
            </a:pPr>
            <a:r>
              <a:t>Reckless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731520" cy="508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8DFCF"/>
                </a:solidFill>
                <a:latin typeface="Calibri"/>
              </a:defRPr>
            </a:pPr>
            <a:r>
              <a:t>Service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  <a:latin typeface="Calibri"/>
              </a:defRPr>
            </a:pPr>
            <a:r>
              <a:t>Creative. Parallax. Labs. Three systems, one mission.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SERVICE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Three Systems. One Mission.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3474720" cy="508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DFCF"/>
                </a:solidFill>
                <a:latin typeface="Calibri"/>
              </a:defRPr>
            </a:pPr>
            <a:r>
              <a:t>Creative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Strategy and systems consulting that turns scattered activity into focused, measurable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74"/>
                </a:solidFill>
                <a:latin typeface="Calibri"/>
              </a:defRPr>
            </a:pPr>
            <a:r>
              <a:t>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54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Brand strategy, campaign architecture, reporting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74"/>
                </a:solidFill>
                <a:latin typeface="Calibri"/>
              </a:defRPr>
            </a:pPr>
            <a:r>
              <a:t>Your team makes decisions from data, not guesswork.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4747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286000"/>
            <a:ext cx="3474720" cy="508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DFCF"/>
                </a:solidFill>
                <a:latin typeface="Calibri"/>
              </a:defRPr>
            </a:pPr>
            <a:r>
              <a:t>Parallax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A unified reporting surface that pulls GA4, Search Console, and LinkedIn into one clean 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480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74"/>
                </a:solidFill>
                <a:latin typeface="Calibri"/>
              </a:defRPr>
            </a:pPr>
            <a:r>
              <a:t>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754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Custom dashboards, automated reporting, data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74"/>
                </a:solidFill>
                <a:latin typeface="Calibri"/>
              </a:defRPr>
            </a:pPr>
            <a:r>
              <a:t>One source of truth your whole team trusts.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286000"/>
            <a:ext cx="34747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286000"/>
            <a:ext cx="3474720" cy="508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DFCF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  <a:latin typeface="Calibri"/>
              </a:defRPr>
            </a:pPr>
            <a:r>
              <a:t>Custom systems thinking and digital experimentation for problems that need a new approach.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74"/>
                </a:solidFill>
                <a:latin typeface="Calibri"/>
              </a:defRPr>
            </a:pPr>
            <a:r>
              <a:t>Deliverables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754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B"/>
                </a:solidFill>
                <a:latin typeface="Calibri"/>
              </a:defRPr>
            </a:pPr>
            <a:r>
              <a:t>Custom tools, workflow systems, decision frameworks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574"/>
                </a:solidFill>
                <a:latin typeface="Calibri"/>
              </a:defRPr>
            </a:pPr>
            <a:r>
              <a:t>A solution designed for your specific terrain.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How We Work</a:t>
            </a:r>
          </a:p>
        </p:txBody>
      </p:sp>
      <p:sp>
        <p:nvSpPr>
          <p:cNvPr id="4" name="Oval 3"/>
          <p:cNvSpPr/>
          <p:nvPr/>
        </p:nvSpPr>
        <p:spPr>
          <a:xfrm>
            <a:off x="2103120" y="2377440"/>
            <a:ext cx="822960" cy="822960"/>
          </a:xfrm>
          <a:prstGeom prst="ellipse">
            <a:avLst/>
          </a:prstGeom>
          <a:solidFill>
            <a:srgbClr val="0B1120"/>
          </a:solidFill>
          <a:ln w="25400">
            <a:solidFill>
              <a:srgbClr val="E0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4688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0474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DFCF"/>
                </a:solidFill>
                <a:latin typeface="Calibri"/>
              </a:defRPr>
            </a:pPr>
            <a:r>
              <a:t>Diagnose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6AB"/>
                </a:solidFill>
                <a:latin typeface="Calibri"/>
              </a:defRPr>
            </a:pPr>
            <a:r>
              <a:t>Map the signal, locate interference.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574"/>
                </a:solidFill>
                <a:latin typeface="Calibri"/>
              </a:defRPr>
            </a:pPr>
            <a:r>
              <a:t>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6AB"/>
                </a:solidFill>
                <a:latin typeface="Calibri"/>
              </a:defRPr>
            </a:pPr>
            <a:r>
              <a:t>Signal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49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6AB"/>
                </a:solidFill>
                <a:latin typeface="Calibri"/>
              </a:defRPr>
            </a:pPr>
            <a:r>
              <a:t>Narrative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669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6AB"/>
                </a:solidFill>
                <a:latin typeface="Calibri"/>
              </a:defRPr>
            </a:pPr>
            <a:r>
              <a:t>Strategic Coordinates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0" y="2377440"/>
            <a:ext cx="822960" cy="822960"/>
          </a:xfrm>
          <a:prstGeom prst="ellipse">
            <a:avLst/>
          </a:prstGeom>
          <a:solidFill>
            <a:srgbClr val="0B1120"/>
          </a:solidFill>
          <a:ln w="25400">
            <a:solidFill>
              <a:srgbClr val="E0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4688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0474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DFC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931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6AB"/>
                </a:solidFill>
                <a:latin typeface="Calibri"/>
              </a:defRPr>
            </a:pPr>
            <a:r>
              <a:t>Architect the simplest system that will hold.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574"/>
                </a:solidFill>
                <a:latin typeface="Calibri"/>
              </a:defRPr>
            </a:pPr>
            <a:r>
              <a:t>Deliverables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029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6AB"/>
                </a:solidFill>
                <a:latin typeface="Calibri"/>
              </a:defRPr>
            </a:pPr>
            <a:r>
              <a:t>Identity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5349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6AB"/>
                </a:solidFill>
                <a:latin typeface="Calibri"/>
              </a:defRPr>
            </a:pPr>
            <a:r>
              <a:t>Digital Interfaces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669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6AB"/>
                </a:solidFill>
                <a:latin typeface="Calibri"/>
              </a:defRPr>
            </a:pPr>
            <a:r>
              <a:t>Motion Framework</a:t>
            </a:r>
          </a:p>
        </p:txBody>
      </p:sp>
      <p:sp>
        <p:nvSpPr>
          <p:cNvPr id="20" name="Oval 19"/>
          <p:cNvSpPr/>
          <p:nvPr/>
        </p:nvSpPr>
        <p:spPr>
          <a:xfrm>
            <a:off x="9418320" y="2377440"/>
            <a:ext cx="822960" cy="822960"/>
          </a:xfrm>
          <a:prstGeom prst="ellipse">
            <a:avLst/>
          </a:prstGeom>
          <a:solidFill>
            <a:srgbClr val="0B1120"/>
          </a:solidFill>
          <a:ln w="25400">
            <a:solidFill>
              <a:srgbClr val="E0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4688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0474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DFCF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931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6AB"/>
                </a:solidFill>
                <a:latin typeface="Calibri"/>
              </a:defRPr>
            </a:pPr>
            <a:r>
              <a:t>Ship the work, measure, refine.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574"/>
                </a:solidFill>
                <a:latin typeface="Calibri"/>
              </a:defRPr>
            </a:pPr>
            <a:r>
              <a:t>Deliverables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029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6AB"/>
                </a:solidFill>
                <a:latin typeface="Calibri"/>
              </a:defRPr>
            </a:pPr>
            <a:r>
              <a:t>Web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349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6AB"/>
                </a:solidFill>
                <a:latin typeface="Calibri"/>
              </a:defRPr>
            </a:pPr>
            <a:r>
              <a:t>Platform 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669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6AB"/>
                </a:solidFill>
                <a:latin typeface="Calibri"/>
              </a:defRPr>
            </a:pPr>
            <a:r>
              <a:t>Performance Tracking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Signals We Optimize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5029200" cy="1554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2697480"/>
            <a:ext cx="274320" cy="274320"/>
          </a:xfrm>
          <a:prstGeom prst="ellipse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6517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DFCF"/>
                </a:solidFill>
                <a:latin typeface="Calibri"/>
              </a:defRPr>
            </a:pPr>
            <a:r>
              <a:t>Decision Velocity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004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AB"/>
                </a:solidFill>
                <a:latin typeface="Calibri"/>
              </a:defRPr>
            </a:pPr>
            <a:r>
              <a:t>Teams move from weekly bottlenecks to daily clarity on what matters.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5029200" cy="1554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2697480"/>
            <a:ext cx="274320" cy="274320"/>
          </a:xfrm>
          <a:prstGeom prst="ellipse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6517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DFCF"/>
                </a:solidFill>
                <a:latin typeface="Calibri"/>
              </a:defRPr>
            </a:pPr>
            <a:r>
              <a:t>Reporting Clarity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2004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AB"/>
                </a:solidFill>
                <a:latin typeface="Calibri"/>
              </a:defRPr>
            </a:pPr>
            <a:r>
              <a:t>One dashboard. One source of truth. No more spreadsheet archaeology.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06240"/>
            <a:ext cx="5029200" cy="1554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20" y="4526280"/>
            <a:ext cx="274320" cy="274320"/>
          </a:xfrm>
          <a:prstGeom prst="ellipse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480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DFCF"/>
                </a:solidFill>
                <a:latin typeface="Calibri"/>
              </a:defRPr>
            </a:pPr>
            <a:r>
              <a:t>Strategic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0292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AB"/>
                </a:solidFill>
                <a:latin typeface="Calibri"/>
              </a:defRPr>
            </a:pPr>
            <a:r>
              <a:t>Everyone from leadership to execution working from the same signal.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06240"/>
            <a:ext cx="5029200" cy="1554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4526280"/>
            <a:ext cx="274320" cy="274320"/>
          </a:xfrm>
          <a:prstGeom prst="ellipse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480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DFCF"/>
                </a:solidFill>
                <a:latin typeface="Calibri"/>
              </a:defRPr>
            </a:pPr>
            <a:r>
              <a:t>Operational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0292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AB"/>
                </a:solidFill>
                <a:latin typeface="Calibri"/>
              </a:defRPr>
            </a:pPr>
            <a:r>
              <a:t>Less noise in the system. Fewer meetings about meetings.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731520" cy="508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8DFCF"/>
                </a:solidFill>
                <a:latin typeface="Calibri"/>
              </a:defRPr>
            </a:pPr>
            <a: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  <a:latin typeface="Calibri"/>
              </a:defRPr>
            </a:pPr>
            <a:r>
              <a:t>How the brand lives across digital and physical touchpoints.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Website &amp; Digital Presence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Primary digital home: cosmicreachcreative.com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Built with Next.js 16, React 19, Tailwind CSS v4. Performance-first architecture.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Key Pages: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Homepage — Hero, pillars, proof, email capture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Work — Case studies and proof of concept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Approach — Orbital mechanics (Diagnose, Design, Deploy)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About — Founder story and company positioning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Labs — Experimental tools and frameworks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Parallax — Unified reporting dashboard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Clarity Session — Consultation booking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All pages follow the brand token system for consistent visual treatment.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Presentation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All presentations follow the dark-first design system: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Background: Deep Space (#0B1120) or Navy Alt (#0B1628)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Text: Starlight (#E8DFCF) for headings, Muted (#8896AB) for body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Accents: Spark Red for labels, Copper for metadata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Slide Structure: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Section label (red, uppercase, 11pt) at top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Title (starlight, bold, 36pt) below label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Body content with consistent spacing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Use cards (Surface bg, Border stroke, rounded corners) for grouping content.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Maintain generous whitespace. Let the content breathe.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Social Media &amp;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LinkedIn: Primary social channel. Professional tone with cosmic vocabulary.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Email Communications: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From: jordan@cosmicreachcreative.com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Signature includes: Jordan Knight, Managing Partner, Cosmic Reach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Dark email templates matching website palette when possible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Social Post Guidelines: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Lead with insight, not promotion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Short, structured posts. Use line breaks for rhythm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Cosmic metaphors used sparingly in social context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No hashtag spam. 2-3 relevant tags maximum</a:t>
            </a:r>
          </a:p>
          <a:p>
            <a:pPr>
              <a:spcAft>
                <a:spcPts val="1000"/>
              </a:spcAft>
              <a:defRPr sz="1600">
                <a:solidFill>
                  <a:srgbClr val="8896AB"/>
                </a:solidFill>
                <a:latin typeface="Calibri"/>
              </a:defRPr>
            </a:pPr>
            <a:r>
              <a:t>  • Images follow the dark, moody photography style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731520" cy="508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8DFCF"/>
                </a:solidFill>
                <a:latin typeface="Calibri"/>
              </a:defRPr>
            </a:pPr>
            <a:r>
              <a:t>Brand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  <a:latin typeface="Calibri"/>
              </a:defRPr>
            </a:pPr>
            <a:r>
              <a:t>Governance, resources, and how to keep the brand alive.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4747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DFCF"/>
                </a:solidFill>
                <a:latin typeface="Calibri"/>
              </a:defRPr>
            </a:pPr>
            <a:r>
              <a:t>Accessibility &amp;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502920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DFCF"/>
                </a:solidFill>
                <a:latin typeface="Calibri"/>
              </a:defRPr>
            </a:pPr>
            <a:r>
              <a:t>WCAG 2.1 AA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6AB"/>
                </a:solidFill>
                <a:latin typeface="Calibri"/>
              </a:defRPr>
            </a:pPr>
            <a:r>
              <a:t>Minimum standard for all text contrast pairings across digital touchpoints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02920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468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DFCF"/>
                </a:solidFill>
                <a:latin typeface="Calibri"/>
              </a:defRPr>
            </a:pPr>
            <a:r>
              <a:t>Focus 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834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6AB"/>
                </a:solidFill>
                <a:latin typeface="Calibri"/>
              </a:defRPr>
            </a:pPr>
            <a:r>
              <a:t>2px solid Spark Red with 2px offset on all interactive elements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57600"/>
            <a:ext cx="502920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DFCF"/>
                </a:solidFill>
                <a:latin typeface="Calibri"/>
              </a:defRPr>
            </a:pPr>
            <a:r>
              <a:t>Keyboard Nav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6AB"/>
                </a:solidFill>
                <a:latin typeface="Calibri"/>
              </a:defRPr>
            </a:pPr>
            <a:r>
              <a:t>All interactive elements are fully keyboard accessible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02920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DFCF"/>
                </a:solidFill>
                <a:latin typeface="Calibri"/>
              </a:defRPr>
            </a:pPr>
            <a:r>
              <a:t>Reduced 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6AB"/>
                </a:solidFill>
                <a:latin typeface="Calibri"/>
              </a:defRPr>
            </a:pPr>
            <a:r>
              <a:t>All animations respect prefers-reduced-motion globally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29200"/>
            <a:ext cx="502920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212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DFCF"/>
                </a:solidFill>
                <a:latin typeface="Calibri"/>
              </a:defRPr>
            </a:pPr>
            <a:r>
              <a:t>Color Independence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778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6AB"/>
                </a:solidFill>
                <a:latin typeface="Calibri"/>
              </a:defRPr>
            </a:pPr>
            <a:r>
              <a:t>Color never conveys information alone. Always paired with text or icons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029200"/>
            <a:ext cx="502920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212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DFCF"/>
                </a:solidFill>
                <a:latin typeface="Calibri"/>
              </a:defRPr>
            </a:pPr>
            <a:r>
              <a:t>Semantic 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5778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6AB"/>
                </a:solidFill>
                <a:latin typeface="Calibri"/>
              </a:defRPr>
            </a:pPr>
            <a:r>
              <a:t>Proper heading hierarchy, ARIA labels, and landmark regions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DFCF"/>
                </a:solidFill>
                <a:latin typeface="Calibri"/>
              </a:defRPr>
            </a:pPr>
            <a:r>
              <a:t>Cosmic Reach 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574"/>
                </a:solidFill>
                <a:latin typeface="Calibri"/>
              </a:defRPr>
            </a:pPr>
            <a:r>
              <a:t>Strategy. Systems. Signal.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6AB"/>
                </a:solidFill>
                <a:latin typeface="Calibri"/>
              </a:defRPr>
            </a:pPr>
            <a:r>
              <a:t>cosmicreachcreative.com  |  jordan@cosmicreachcreative.com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4A574"/>
                </a:solidFill>
                <a:latin typeface="Calibri"/>
              </a:defRPr>
            </a:pPr>
            <a:r>
              <a:t>Brand Owner: Jordan Knight, Managing Partner  |  Quarterly Review Cadence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6AB"/>
                </a:solidFill>
                <a:latin typeface="Calibri"/>
              </a:defRPr>
            </a:pPr>
            <a:r>
              <a:t>Resources: BRAND_TOKENS.md  |  CONTENT_EDITING.md  |  /public/logos/ (8 SVG variants)  |  /public/images/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08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